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-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8138160" y="548640"/>
            <a:ext cx="0" cy="557784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61120" y="548640"/>
            <a:ext cx="0" cy="557784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548640"/>
            <a:ext cx="0" cy="557784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07040" y="548640"/>
            <a:ext cx="0" cy="557784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30000" y="548640"/>
            <a:ext cx="0" cy="557784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0" y="1188720"/>
            <a:ext cx="4023360" cy="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0" y="2011680"/>
            <a:ext cx="4023360" cy="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0" y="2834640"/>
            <a:ext cx="4023360" cy="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3657600"/>
            <a:ext cx="4023360" cy="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0" y="4480560"/>
            <a:ext cx="4023360" cy="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5303520"/>
            <a:ext cx="4023360" cy="0"/>
          </a:xfrm>
          <a:prstGeom prst="line">
            <a:avLst/>
          </a:prstGeom>
          <a:ln w="889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503920" y="1325880"/>
            <a:ext cx="2011680" cy="2011680"/>
          </a:xfrm>
          <a:prstGeom prst="ellipse">
            <a:avLst/>
          </a:prstGeom>
          <a:solidFill>
            <a:srgbClr val="182336"/>
          </a:solidFill>
          <a:ln>
            <a:solidFill>
              <a:srgbClr val="18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75520" y="2743200"/>
            <a:ext cx="1234440" cy="1234440"/>
          </a:xfrm>
          <a:prstGeom prst="ellipse">
            <a:avLst/>
          </a:prstGeom>
          <a:solidFill>
            <a:srgbClr val="182336"/>
          </a:solidFill>
          <a:ln>
            <a:solidFill>
              <a:srgbClr val="18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52760" y="1783080"/>
            <a:ext cx="594360" cy="594360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98280" y="4160520"/>
            <a:ext cx="731520" cy="731520"/>
          </a:xfrm>
          <a:prstGeom prst="ellipse">
            <a:avLst/>
          </a:prstGeom>
          <a:solidFill>
            <a:srgbClr val="45DC9B"/>
          </a:solidFill>
          <a:ln>
            <a:solidFill>
              <a:srgbClr val="45D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669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4D3FF"/>
                </a:solidFill>
                <a:latin typeface="Aptos"/>
              </a:rPr>
              <a:t>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325880"/>
            <a:ext cx="6858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5F8FC"/>
                </a:solidFill>
                <a:latin typeface="Aptos"/>
              </a:rPr>
              <a:t>ChainGuard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176272"/>
            <a:ext cx="6583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A6B4C7"/>
                </a:solidFill>
                <a:latin typeface="Aptos"/>
              </a:rPr>
              <a:t>AI-Powered Supply Chain Disruption</a:t>
            </a:r>
            <a:br/>
            <a:r>
              <a:t>&amp; Fleet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57600"/>
            <a:ext cx="5074920" cy="91440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904487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From disruption detection → to intelligent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749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Prototype • Explainable decisions • Real-time style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7150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4D3FF"/>
                </a:solidFill>
                <a:latin typeface="Aptos"/>
              </a:rPr>
              <a:t>Supply Chain Disruption Assistant &amp; Fleet Utilisation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One disruption can cascade across an entire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A6B4C7"/>
                </a:solidFill>
                <a:latin typeface="Aptos"/>
              </a:rPr>
              <a:t>The L2 challenge focuses on identifying affected shipments, rerouting, fleet redeployment and cold-chain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5303520" cy="416052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14A"/>
                </a:solidFill>
                <a:latin typeface="Aptos"/>
              </a:rPr>
              <a:t>THE OPERATIONAL PAIN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15768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606040"/>
            <a:ext cx="4453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Road closures, port disruptions and weather events affect multiple shipments simultaneously.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3246120"/>
            <a:ext cx="4453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Teams must manually identify which shipments are impacted and which need priority.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95928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886200"/>
            <a:ext cx="4453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Alternative routes and carriers need to be evaluated under time pressure.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636008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526280"/>
            <a:ext cx="4453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Idle vehicles may exist while high-priority shipments wait for capacity.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276088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66360"/>
            <a:ext cx="44531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Cold-chain excursions can turn a delay into a product-quality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01952"/>
            <a:ext cx="5394960" cy="416052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5B6C"/>
                </a:solidFill>
                <a:latin typeface="Aptos"/>
              </a:rPr>
              <a:t>DISRUPTION CASCADE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268833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DISRUPTION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9984" y="3081528"/>
            <a:ext cx="0" cy="320040"/>
          </a:xfrm>
          <a:prstGeom prst="line">
            <a:avLst/>
          </a:prstGeom>
          <a:ln w="2540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537960" y="3401568"/>
            <a:ext cx="384048" cy="384048"/>
          </a:xfrm>
          <a:prstGeom prst="ellipse">
            <a:avLst/>
          </a:prstGeom>
          <a:solidFill>
            <a:srgbClr val="FFB14A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3392424"/>
            <a:ext cx="20116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SHIPMENTS</a:t>
            </a:r>
            <a:br>
              <a:rPr dirty="0"/>
            </a:b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AT RISK</a:t>
            </a:r>
            <a:endParaRPr dirty="0"/>
          </a:p>
        </p:txBody>
      </p:sp>
      <p:cxnSp>
        <p:nvCxnSpPr>
          <p:cNvPr id="24" name="Connector 23"/>
          <p:cNvCxnSpPr/>
          <p:nvPr/>
        </p:nvCxnSpPr>
        <p:spPr>
          <a:xfrm>
            <a:off x="6729984" y="3785616"/>
            <a:ext cx="0" cy="320040"/>
          </a:xfrm>
          <a:prstGeom prst="line">
            <a:avLst/>
          </a:prstGeom>
          <a:ln w="2540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37960" y="4105656"/>
            <a:ext cx="384048" cy="384048"/>
          </a:xfrm>
          <a:prstGeom prst="ellipse">
            <a:avLst/>
          </a:prstGeom>
          <a:solidFill>
            <a:srgbClr val="9A7BFF"/>
          </a:solidFill>
          <a:ln>
            <a:solidFill>
              <a:srgbClr val="9A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4096512"/>
            <a:ext cx="20116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FLEET</a:t>
            </a:r>
            <a:br>
              <a:rPr dirty="0"/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MISMATCH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29984" y="4489704"/>
            <a:ext cx="0" cy="320040"/>
          </a:xfrm>
          <a:prstGeom prst="line">
            <a:avLst/>
          </a:prstGeom>
          <a:ln w="2540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537960" y="4809744"/>
            <a:ext cx="384048" cy="384048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20116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COLD-CHAIN</a:t>
            </a:r>
            <a:br>
              <a:rPr dirty="0"/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EXCURSION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834640"/>
            <a:ext cx="914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A6B4C7"/>
                </a:solidFill>
                <a:latin typeface="Aptos"/>
              </a:rPr>
              <a:t>Result: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182112"/>
            <a:ext cx="173736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5F8FC"/>
                </a:solidFill>
                <a:latin typeface="Aptos"/>
              </a:rPr>
              <a:t>Late decisions</a:t>
            </a:r>
            <a:br>
              <a:rPr dirty="0"/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Higher cost</a:t>
            </a:r>
            <a:b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Service 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02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ChainGuard AI turns disruption data into prioritized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4C7"/>
                </a:solidFill>
                <a:latin typeface="Aptos"/>
              </a:rPr>
              <a:t>A lightweight, explainable decision-support prototype for logistics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29968"/>
            <a:ext cx="2423160" cy="324612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2677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24912"/>
            <a:ext cx="2011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8FC"/>
                </a:solidFill>
                <a:latin typeface="Aptos"/>
              </a:rPr>
              <a:t>Disruption</a:t>
            </a:r>
            <a:br>
              <a:rPr dirty="0"/>
            </a:br>
            <a:r>
              <a:rPr dirty="0">
                <a:solidFill>
                  <a:schemeClr val="bg2">
                    <a:lumMod val="75000"/>
                  </a:schemeClr>
                </a:solidFill>
              </a:rPr>
              <a:t>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685032"/>
            <a:ext cx="1965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Identify affected shipments when a route or facility is disrupted.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" y="5010912"/>
            <a:ext cx="1947672" cy="0"/>
          </a:xfrm>
          <a:prstGeom prst="line">
            <a:avLst/>
          </a:prstGeom>
          <a:ln w="25400">
            <a:solidFill>
              <a:srgbClr val="44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56432" y="2029968"/>
            <a:ext cx="2423160" cy="324612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2677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14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2011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8FC"/>
                </a:solidFill>
                <a:latin typeface="Aptos"/>
              </a:rPr>
              <a:t>Shipment</a:t>
            </a:r>
            <a:br>
              <a:rPr dirty="0"/>
            </a:br>
            <a:r>
              <a:rPr dirty="0">
                <a:solidFill>
                  <a:schemeClr val="bg2">
                    <a:lumMod val="75000"/>
                  </a:schemeClr>
                </a:solidFill>
              </a:rPr>
              <a:t>Risk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85032"/>
            <a:ext cx="1965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Score and explain shipment risk using transparent rules.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5010912"/>
            <a:ext cx="1947672" cy="0"/>
          </a:xfrm>
          <a:prstGeom prst="line">
            <a:avLst/>
          </a:prstGeom>
          <a:ln w="25400">
            <a:solidFill>
              <a:srgbClr val="FFB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18504" y="2029968"/>
            <a:ext cx="2423160" cy="324612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519672" y="22677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7B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24912"/>
            <a:ext cx="2011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8FC"/>
                </a:solidFill>
                <a:latin typeface="Aptos"/>
              </a:rPr>
              <a:t>Fleet &amp; Route</a:t>
            </a:r>
            <a:br>
              <a:rPr dirty="0"/>
            </a:br>
            <a:r>
              <a:rPr dirty="0">
                <a:solidFill>
                  <a:schemeClr val="bg2">
                    <a:lumMod val="75000"/>
                  </a:schemeClr>
                </a:solidFill>
              </a:rPr>
              <a:t>Optimizer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685032"/>
            <a:ext cx="1965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Recommend alternate routes and suitable idle vehicles.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9672" y="5010912"/>
            <a:ext cx="1947672" cy="0"/>
          </a:xfrm>
          <a:prstGeom prst="line">
            <a:avLst/>
          </a:prstGeom>
          <a:ln w="25400">
            <a:solidFill>
              <a:srgbClr val="9A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0576" y="2029968"/>
            <a:ext cx="2423160" cy="324612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81744" y="22677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5DC9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724912"/>
            <a:ext cx="2011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8FC"/>
                </a:solidFill>
                <a:latin typeface="Aptos"/>
              </a:rPr>
              <a:t>Cold-Chain</a:t>
            </a:r>
            <a:br>
              <a:rPr dirty="0"/>
            </a:br>
            <a:r>
              <a:rPr dirty="0">
                <a:solidFill>
                  <a:schemeClr val="bg2">
                    <a:lumMod val="75000"/>
                  </a:schemeClr>
                </a:solidFill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685032"/>
            <a:ext cx="1965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Detect temperature excursions and classify severity.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81744" y="5010912"/>
            <a:ext cx="1947671" cy="0"/>
          </a:xfrm>
          <a:prstGeom prst="line">
            <a:avLst/>
          </a:prstGeom>
          <a:ln w="25400">
            <a:solidFill>
              <a:srgbClr val="45D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5504688"/>
            <a:ext cx="1280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44D3FF"/>
                </a:solidFill>
                <a:latin typeface="Aptos"/>
              </a:rPr>
              <a:t>Core</a:t>
            </a:r>
            <a:r>
              <a:rPr sz="1000" b="1" dirty="0">
                <a:solidFill>
                  <a:srgbClr val="44D3FF"/>
                </a:solidFill>
                <a:latin typeface="Aptos"/>
              </a:rPr>
              <a:t> </a:t>
            </a:r>
            <a:r>
              <a:rPr sz="1400" b="1" dirty="0">
                <a:solidFill>
                  <a:srgbClr val="44D3FF"/>
                </a:solidFill>
                <a:latin typeface="Aptos"/>
              </a:rPr>
              <a:t>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596128"/>
            <a:ext cx="6583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Detect → Prioritize → Recommend →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Simple architecture, designed for a fast and reliable hackathon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03567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>
                <a:solidFill>
                  <a:srgbClr val="A6B4C7"/>
                </a:solidFill>
                <a:latin typeface="Aptos"/>
              </a:rPr>
              <a:t>The prototype uses mock operational data so the experience is self-contained and easy to demonstrate.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927080" cy="68580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221992"/>
            <a:ext cx="10524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4D3FF"/>
                </a:solidFill>
                <a:latin typeface="Aptos"/>
              </a:rPr>
              <a:t>USER / LOGISTICS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42032"/>
            <a:ext cx="10524744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Dashboard • Filters • Demo Mode • AI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99232"/>
            <a:ext cx="3401568" cy="123444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163824"/>
            <a:ext cx="2999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A7BFF"/>
                </a:solidFill>
                <a:latin typeface="Aptos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83863"/>
            <a:ext cx="299923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Shipments</a:t>
            </a:r>
            <a:br>
              <a:rPr dirty="0"/>
            </a:b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Fleet assets</a:t>
            </a:r>
            <a:b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Routes</a:t>
            </a:r>
            <a:br>
              <a:rPr dirty="0"/>
            </a:br>
            <a:r>
              <a:rPr dirty="0"/>
              <a:t>IoT readings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99232"/>
            <a:ext cx="3401568" cy="123444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3163824"/>
            <a:ext cx="2999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14A"/>
                </a:solidFill>
                <a:latin typeface="Aptos"/>
              </a:rPr>
              <a:t>DECISION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483863"/>
            <a:ext cx="299923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Risk scoring</a:t>
            </a:r>
            <a:br>
              <a:rPr dirty="0"/>
            </a:b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Route selection</a:t>
            </a:r>
            <a:b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Fleet matching</a:t>
            </a:r>
            <a:br>
              <a:rPr dirty="0"/>
            </a:br>
            <a:r>
              <a:rPr dirty="0"/>
              <a:t>Temperature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99232"/>
            <a:ext cx="3401568" cy="123444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3163824"/>
            <a:ext cx="2999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5DC9B"/>
                </a:solidFill>
                <a:latin typeface="Aptos"/>
              </a:rPr>
              <a:t>ACTION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483863"/>
            <a:ext cx="299923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8FC"/>
                </a:solidFill>
                <a:latin typeface="Aptos"/>
              </a:rPr>
              <a:t>Priorities</a:t>
            </a:r>
            <a:br>
              <a:rPr dirty="0"/>
            </a:b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Recommendations</a:t>
            </a:r>
            <a:b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Alerts</a:t>
            </a:r>
            <a:br>
              <a:rPr dirty="0"/>
            </a:br>
            <a:r>
              <a:rPr dirty="0"/>
              <a:t>Explanations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3611880"/>
            <a:ext cx="274320" cy="0"/>
          </a:xfrm>
          <a:prstGeom prst="line">
            <a:avLst/>
          </a:prstGeom>
          <a:ln w="25400">
            <a:solidFill>
              <a:srgbClr val="A6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ight Triangle 17"/>
          <p:cNvSpPr/>
          <p:nvPr/>
        </p:nvSpPr>
        <p:spPr>
          <a:xfrm>
            <a:off x="4297680" y="3493008"/>
            <a:ext cx="201168" cy="237744"/>
          </a:xfrm>
          <a:prstGeom prst="rtTriangle">
            <a:avLst/>
          </a:prstGeom>
          <a:solidFill>
            <a:srgbClr val="A6B4C7"/>
          </a:solidFill>
          <a:ln>
            <a:solidFill>
              <a:srgbClr val="A6B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7818120" y="3611880"/>
            <a:ext cx="274320" cy="0"/>
          </a:xfrm>
          <a:prstGeom prst="line">
            <a:avLst/>
          </a:prstGeom>
          <a:ln w="25400">
            <a:solidFill>
              <a:srgbClr val="A6B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/>
          <p:cNvSpPr/>
          <p:nvPr/>
        </p:nvSpPr>
        <p:spPr>
          <a:xfrm>
            <a:off x="8046720" y="3493008"/>
            <a:ext cx="201168" cy="237744"/>
          </a:xfrm>
          <a:prstGeom prst="rtTriangle">
            <a:avLst/>
          </a:prstGeom>
          <a:solidFill>
            <a:srgbClr val="A6B4C7"/>
          </a:solidFill>
          <a:ln>
            <a:solidFill>
              <a:srgbClr val="A6B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10927080" cy="1170432"/>
          </a:xfrm>
          <a:prstGeom prst="roundRect">
            <a:avLst/>
          </a:prstGeom>
          <a:solidFill>
            <a:srgbClr val="182336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919472"/>
            <a:ext cx="1371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5B6C"/>
                </a:solidFill>
                <a:latin typeface="Aptos"/>
              </a:rPr>
              <a:t>LIVE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8289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NH48 disruption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86460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4C7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88289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17 affected shipments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86460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4C7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8828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4 cold-chain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86460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4C7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8828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8 idle assets found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38120"/>
            <a:ext cx="6583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>
                <a:solidFill>
                  <a:srgbClr val="A6B4C7"/>
                </a:solidFill>
                <a:latin typeface="Aptos"/>
              </a:rPr>
              <a:t>Illustrative prototype scenario — not real operational measurements.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03 •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 disruption happens. ChainGuard reacts in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4C7"/>
                </a:solidFill>
                <a:latin typeface="Aptos"/>
              </a:rPr>
              <a:t>Use this slide while demonstrating the working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7498079" cy="434340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4C7"/>
                </a:solidFill>
                <a:latin typeface="Aptos"/>
              </a:rPr>
              <a:t>CHAINGUARD AI  / 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87168"/>
            <a:ext cx="155448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670048"/>
            <a:ext cx="1152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4D3FF"/>
                </a:solidFill>
                <a:latin typeface="Aptos"/>
              </a:rPr>
              <a:t>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00400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4C7"/>
                </a:solidFill>
                <a:latin typeface="Aptos"/>
              </a:rPr>
              <a:t>SHIPMENTS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487168"/>
            <a:ext cx="155448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07208" y="2670048"/>
            <a:ext cx="1152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B14A"/>
                </a:solidFill>
                <a:latin typeface="Aptos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200400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4C7"/>
                </a:solidFill>
                <a:latin typeface="Aptos"/>
              </a:rPr>
              <a:t>AT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87168"/>
            <a:ext cx="155448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70048"/>
            <a:ext cx="1152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5B6C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00400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4C7"/>
                </a:solidFill>
                <a:latin typeface="Aptos"/>
              </a:rPr>
              <a:t>COLD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487168"/>
            <a:ext cx="155448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2670048"/>
            <a:ext cx="11521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5DC9B"/>
                </a:solidFill>
                <a:latin typeface="Apto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3200400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4C7"/>
                </a:solidFill>
                <a:latin typeface="Aptos"/>
              </a:rPr>
              <a:t>IDLE 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6949440" cy="960120"/>
          </a:xfrm>
          <a:prstGeom prst="roundRect">
            <a:avLst/>
          </a:prstGeom>
          <a:solidFill>
            <a:srgbClr val="182336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97763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5B6C"/>
                </a:solidFill>
                <a:latin typeface="Aptos"/>
              </a:rPr>
              <a:t>🚨  NH48 ROAD DISRUPTION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31920"/>
            <a:ext cx="914400" cy="310896"/>
          </a:xfrm>
          <a:prstGeom prst="roundRect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397306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968496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12 shipments need immediate rerouting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956048"/>
            <a:ext cx="3337560" cy="914400"/>
          </a:xfrm>
          <a:prstGeom prst="roundRect">
            <a:avLst/>
          </a:prstGeom>
          <a:solidFill>
            <a:srgbClr val="182336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13892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SH1024  •  VACCINES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5102352"/>
            <a:ext cx="777240" cy="310896"/>
          </a:xfrm>
          <a:prstGeom prst="roundRect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5143500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RISK 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46811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4C7"/>
                </a:solidFill>
                <a:latin typeface="Aptos"/>
              </a:rPr>
              <a:t>Route disrupted + 9.4°C excursion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4956048"/>
            <a:ext cx="3410712" cy="914400"/>
          </a:xfrm>
          <a:prstGeom prst="roundRect">
            <a:avLst/>
          </a:prstGeom>
          <a:solidFill>
            <a:srgbClr val="182336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51389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4D3FF"/>
                </a:solidFill>
                <a:latin typeface="Aptos"/>
              </a:rPr>
              <a:t>AI 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46811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Route B + refrigerated TR105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1874519"/>
            <a:ext cx="3200400" cy="434340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DEMO FLOW</a:t>
            </a:r>
          </a:p>
        </p:txBody>
      </p:sp>
      <p:sp>
        <p:nvSpPr>
          <p:cNvPr id="34" name="Oval 33"/>
          <p:cNvSpPr/>
          <p:nvPr/>
        </p:nvSpPr>
        <p:spPr>
          <a:xfrm>
            <a:off x="8668512" y="2670048"/>
            <a:ext cx="347472" cy="347472"/>
          </a:xfrm>
          <a:prstGeom prst="ellipse">
            <a:avLst/>
          </a:prstGeom>
          <a:solidFill>
            <a:srgbClr val="FF5B6C"/>
          </a:solidFill>
          <a:ln>
            <a:solidFill>
              <a:srgbClr val="FF5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68512" y="2724912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65176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Simulate disruption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42248" y="3017520"/>
            <a:ext cx="0" cy="228600"/>
          </a:xfrm>
          <a:prstGeom prst="line">
            <a:avLst/>
          </a:prstGeom>
          <a:ln w="1905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68512" y="3328415"/>
            <a:ext cx="347472" cy="347472"/>
          </a:xfrm>
          <a:prstGeom prst="ellipse">
            <a:avLst/>
          </a:prstGeom>
          <a:solidFill>
            <a:srgbClr val="FFB14A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68512" y="3383279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310127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Find affected shipments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42248" y="3675887"/>
            <a:ext cx="0" cy="228600"/>
          </a:xfrm>
          <a:prstGeom prst="line">
            <a:avLst/>
          </a:prstGeom>
          <a:ln w="1905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668512" y="3986783"/>
            <a:ext cx="347472" cy="347472"/>
          </a:xfrm>
          <a:prstGeom prst="ellipse">
            <a:avLst/>
          </a:prstGeom>
          <a:solidFill>
            <a:srgbClr val="9A7BFF"/>
          </a:solidFill>
          <a:ln>
            <a:solidFill>
              <a:srgbClr val="9A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68512" y="4041647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968496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Score risk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42248" y="4334255"/>
            <a:ext cx="0" cy="228600"/>
          </a:xfrm>
          <a:prstGeom prst="line">
            <a:avLst/>
          </a:prstGeom>
          <a:ln w="1905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668512" y="4645151"/>
            <a:ext cx="347472" cy="347472"/>
          </a:xfrm>
          <a:prstGeom prst="ellipse">
            <a:avLst/>
          </a:prstGeom>
          <a:solidFill>
            <a:srgbClr val="45DC9B"/>
          </a:solidFill>
          <a:ln>
            <a:solidFill>
              <a:srgbClr val="45D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68512" y="4700015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626864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Recommend route + fleet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842248" y="4992623"/>
            <a:ext cx="0" cy="228600"/>
          </a:xfrm>
          <a:prstGeom prst="line">
            <a:avLst/>
          </a:prstGeom>
          <a:ln w="19050">
            <a:solidFill>
              <a:srgbClr val="2B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668512" y="5303519"/>
            <a:ext cx="347472" cy="34747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68512" y="5358383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285231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Flag cold-chain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583387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4C7"/>
                </a:solidFill>
                <a:latin typeface="Aptos"/>
              </a:rPr>
              <a:t>Prototype simulation values shown for demonstration.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04 • IBM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IBM Bob accelerates the build; the architecture is ready for watsonx.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303520" cy="3977639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IBM BOB  •  USED IN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AI development partner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19856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310128"/>
            <a:ext cx="42245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Project planning and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95344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785616"/>
            <a:ext cx="42245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Natural-language code generation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70832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261104"/>
            <a:ext cx="42245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Iterative debugging and refinement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46320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736592"/>
            <a:ext cx="42245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UI and interaction improvements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21808"/>
            <a:ext cx="73152" cy="73152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212080"/>
            <a:ext cx="42245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README / documentation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965960"/>
            <a:ext cx="5394960" cy="3977639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2402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7BFF"/>
                </a:solidFill>
                <a:latin typeface="Aptos"/>
              </a:rPr>
              <a:t>WATSONX.AI  •  INTEGRATION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67004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LLM-powered logistics copilot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419856"/>
            <a:ext cx="73152" cy="73152"/>
          </a:xfrm>
          <a:prstGeom prst="ellipse">
            <a:avLst/>
          </a:prstGeom>
          <a:solidFill>
            <a:srgbClr val="9A7BFF"/>
          </a:solidFill>
          <a:ln>
            <a:solidFill>
              <a:srgbClr val="9A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1" y="3310128"/>
            <a:ext cx="44074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Connect the assistant to foundation models for natural-language operational queries.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968496"/>
            <a:ext cx="73152" cy="73152"/>
          </a:xfrm>
          <a:prstGeom prst="ellipse">
            <a:avLst/>
          </a:prstGeom>
          <a:solidFill>
            <a:srgbClr val="9A7BFF"/>
          </a:solidFill>
          <a:ln>
            <a:solidFill>
              <a:srgbClr val="9A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1" y="3858768"/>
            <a:ext cx="44074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Ground responses in shipment, fleet and sensor context.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517136"/>
            <a:ext cx="73152" cy="73152"/>
          </a:xfrm>
          <a:prstGeom prst="ellipse">
            <a:avLst/>
          </a:prstGeom>
          <a:solidFill>
            <a:srgbClr val="9A7BFF"/>
          </a:solidFill>
          <a:ln>
            <a:solidFill>
              <a:srgbClr val="9A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56831" y="4407408"/>
            <a:ext cx="44074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Keep deterministic safety/risk rules for critical operational decisions.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5074920"/>
            <a:ext cx="4572000" cy="502920"/>
          </a:xfrm>
          <a:prstGeom prst="roundRect">
            <a:avLst/>
          </a:prstGeom>
          <a:solidFill>
            <a:srgbClr val="182336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56832" y="5221224"/>
            <a:ext cx="4206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Prototype today → production-grade AI tomorrow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05 •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The prototype can become an operations copilot—not just a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5963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A6B4C7"/>
                </a:solidFill>
                <a:latin typeface="Aptos"/>
              </a:rPr>
              <a:t>The long-term opportunity is to move from reactive firefighting to proactive, explainable decision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270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914400" cy="457200"/>
          </a:xfrm>
          <a:prstGeom prst="roundRect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368296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219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Disruption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221992"/>
            <a:ext cx="6309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Demonstrate affected shipments, risk, route and fleet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44952"/>
            <a:ext cx="109270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3227832"/>
            <a:ext cx="914400" cy="457200"/>
          </a:xfrm>
          <a:prstGeom prst="roundRect">
            <a:avLst/>
          </a:prstGeom>
          <a:solidFill>
            <a:srgbClr val="9A7BFF"/>
          </a:solidFill>
          <a:ln>
            <a:solidFill>
              <a:srgbClr val="9A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355848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095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Live data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09544"/>
            <a:ext cx="6309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Connect TMS, GPS, carrier, weather and IoT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32504"/>
            <a:ext cx="109270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4215384"/>
            <a:ext cx="914400" cy="457200"/>
          </a:xfrm>
          <a:prstGeom prst="roundRect">
            <a:avLst/>
          </a:prstGeom>
          <a:solidFill>
            <a:srgbClr val="FFB14A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343400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970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Predictive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97096"/>
            <a:ext cx="6309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Forecast disruption propagation and likely service failures.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0056"/>
            <a:ext cx="109270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5202936"/>
            <a:ext cx="914400" cy="457200"/>
          </a:xfrm>
          <a:prstGeom prst="roundRect">
            <a:avLst/>
          </a:prstGeom>
          <a:solidFill>
            <a:srgbClr val="45DC9B"/>
          </a:solidFill>
          <a:ln>
            <a:solidFill>
              <a:srgbClr val="45D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33095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0E19"/>
                </a:solidFill>
                <a:latin typeface="Aptos"/>
              </a:rPr>
              <a:t>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84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Autonomous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184648"/>
            <a:ext cx="6309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4C7"/>
                </a:solidFill>
                <a:latin typeface="Aptos"/>
              </a:rPr>
              <a:t>Recommend and orchestrate recovery actions with human approval.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053328"/>
            <a:ext cx="10927080" cy="320040"/>
          </a:xfrm>
          <a:prstGeom prst="roundRect">
            <a:avLst/>
          </a:prstGeom>
          <a:solidFill>
            <a:srgbClr val="182336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6126480"/>
            <a:ext cx="10469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Potential impact: faster response • lower disruption cost • better fleet utilization • reduced cold-chain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914400"/>
            <a:ext cx="1920240" cy="1920240"/>
          </a:xfrm>
          <a:prstGeom prst="ellipse">
            <a:avLst/>
          </a:prstGeom>
          <a:solidFill>
            <a:srgbClr val="182336"/>
          </a:solidFill>
          <a:ln>
            <a:solidFill>
              <a:srgbClr val="18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3474720"/>
            <a:ext cx="731520" cy="731520"/>
          </a:xfrm>
          <a:prstGeom prst="ellipse">
            <a:avLst/>
          </a:prstGeom>
          <a:solidFill>
            <a:srgbClr val="44D3FF"/>
          </a:solidFill>
          <a:ln>
            <a:solidFill>
              <a:srgbClr val="44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41080" y="4480560"/>
            <a:ext cx="548640" cy="548640"/>
          </a:xfrm>
          <a:prstGeom prst="ellipse">
            <a:avLst/>
          </a:prstGeom>
          <a:solidFill>
            <a:srgbClr val="45DC9B"/>
          </a:solidFill>
          <a:ln>
            <a:solidFill>
              <a:srgbClr val="45D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CHAIN 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5F8FC"/>
                </a:solidFill>
                <a:latin typeface="Aptos"/>
              </a:rPr>
              <a:t>From disruption</a:t>
            </a:r>
            <a:br/>
            <a:r>
              <a:t>to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468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A6B4C7"/>
                </a:solidFill>
                <a:latin typeface="Aptos"/>
              </a:rPr>
              <a:t>A supply-chain intelligence layer that identifies risk,</a:t>
            </a:r>
            <a:br/>
            <a:r>
              <a:t>recommends recovery actions and explains why.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370832"/>
            <a:ext cx="5212080" cy="685800"/>
          </a:xfrm>
          <a:prstGeom prst="roundRect">
            <a:avLst/>
          </a:prstGeom>
          <a:solidFill>
            <a:srgbClr val="121B2B"/>
          </a:solidFill>
          <a:ln>
            <a:solidFill>
              <a:srgbClr val="2B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58114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Detect  →  Prioritize  →  Recommend  → 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509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D3FF"/>
                </a:solidFill>
                <a:latin typeface="Aptos"/>
              </a:rPr>
              <a:t>Built with IBM Bob • Hackathon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440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4C7"/>
                </a:solidFill>
                <a:latin typeface="Aptos"/>
              </a:rPr>
              <a:t>CHAINGUARD AI  • 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717</Words>
  <Application>Microsoft Office PowerPoint</Application>
  <PresentationFormat>Widescreen</PresentationFormat>
  <Paragraphs>144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Sakshi Kothia</dc:creator>
  <cp:keywords/>
  <dc:description>generated using python-pptx</dc:description>
  <cp:lastModifiedBy>Sakshi Kothia</cp:lastModifiedBy>
  <cp:revision>3</cp:revision>
  <dcterms:created xsi:type="dcterms:W3CDTF">2013-01-27T09:14:16Z</dcterms:created>
  <dcterms:modified xsi:type="dcterms:W3CDTF">2026-09-15T14:06:08Z</dcterms:modified>
  <cp:category/>
</cp:coreProperties>
</file>